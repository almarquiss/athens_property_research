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58" r:id="rId5"/>
    <p:sldId id="266" r:id="rId6"/>
    <p:sldId id="261" r:id="rId7"/>
    <p:sldId id="262" r:id="rId8"/>
    <p:sldId id="264" r:id="rId9"/>
    <p:sldId id="263" r:id="rId10"/>
    <p:sldId id="267" r:id="rId11"/>
    <p:sldId id="268" r:id="rId12"/>
    <p:sldId id="269" r:id="rId13"/>
    <p:sldId id="270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Τι καθορίζει την αξία ενός ακινήτου στην Αττική;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Greece Property Listings by Argyris Anastopoulos</a:t>
            </a:r>
          </a:p>
          <a:p>
            <a:r>
              <a:rPr lang="en-US" altLang="en-US" dirty="0"/>
              <a:t>Cleaning dataset</a:t>
            </a:r>
            <a:endParaRPr lang="el-GR" altLang="en-US" dirty="0"/>
          </a:p>
          <a:p>
            <a:pPr lvl="1"/>
            <a:r>
              <a:rPr lang="en-US" altLang="en-US" dirty="0"/>
              <a:t>Date transformation to proper data type</a:t>
            </a:r>
          </a:p>
          <a:p>
            <a:pPr lvl="1"/>
            <a:r>
              <a:rPr lang="en-US" altLang="en-US" dirty="0"/>
              <a:t>Grouping outliers in several categories</a:t>
            </a:r>
          </a:p>
          <a:p>
            <a:pPr lvl="1"/>
            <a:r>
              <a:rPr lang="en-US" altLang="en-US" dirty="0"/>
              <a:t>Creating a field for the existence or not of a parking spot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Στοιχεία Δείγματος – Έτος Κατασκευής</a:t>
            </a:r>
            <a:endParaRPr lang="en-US" dirty="0"/>
          </a:p>
        </p:txBody>
      </p:sp>
      <p:pic>
        <p:nvPicPr>
          <p:cNvPr id="5" name="Content Placeholder 4" descr="Κατανομή έτους κατασκευής (5-χρονα buckets)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4515"/>
            <a:ext cx="10515600" cy="4333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Στοιχεία Δείγματος – Αριθμός Α</a:t>
            </a:r>
            <a:r>
              <a:rPr lang="en-US" altLang="en-US" dirty="0"/>
              <a:t>κ</a:t>
            </a:r>
            <a:r>
              <a:rPr lang="el-GR" altLang="en-US" dirty="0" err="1"/>
              <a:t>ινήτων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Top 15 περιοχές με τις περισσότερες αγγελίε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10" y="1691005"/>
            <a:ext cx="11059795" cy="4485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E27FD-7E1F-0628-83E8-7AAB61209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E77CE5-2BEA-62CF-63C7-0E4B7B88F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Στοιχεί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α Δείγματος – </a:t>
            </a:r>
            <a:r>
              <a:rPr lang="el-GR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Μέγεθος ακινήτων</a:t>
            </a:r>
            <a:endParaRPr lang="en-US" alt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Εικόνα 7">
            <a:extLst>
              <a:ext uri="{FF2B5EF4-FFF2-40B4-BE49-F238E27FC236}">
                <a16:creationId xmlns:a16="http://schemas.microsoft.com/office/drawing/2014/main" id="{039A4A18-921D-5D2B-851E-7E8E4B88C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410578"/>
            <a:ext cx="6780700" cy="403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215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BBF710-B051-D803-4759-EC934C743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A18EA-7EAD-EFBE-AD5D-4B72DBEC8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Στοιχεία Δείγματος</a:t>
            </a: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57E07AE4-CBF2-6963-4F83-AE8F023FA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6588"/>
            <a:ext cx="8605520" cy="2642773"/>
          </a:xfrm>
          <a:prstGeom prst="rect">
            <a:avLst/>
          </a:prstGeom>
        </p:spPr>
      </p:pic>
      <p:pic>
        <p:nvPicPr>
          <p:cNvPr id="8" name="Εικόνα 7">
            <a:extLst>
              <a:ext uri="{FF2B5EF4-FFF2-40B4-BE49-F238E27FC236}">
                <a16:creationId xmlns:a16="http://schemas.microsoft.com/office/drawing/2014/main" id="{64761789-78E5-9439-B7EF-DBBEDE98C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520" y="3946485"/>
            <a:ext cx="8158480" cy="2911515"/>
          </a:xfrm>
          <a:prstGeom prst="rect">
            <a:avLst/>
          </a:prstGeom>
        </p:spPr>
      </p:pic>
      <p:pic>
        <p:nvPicPr>
          <p:cNvPr id="14" name="Εικόνα 13">
            <a:extLst>
              <a:ext uri="{FF2B5EF4-FFF2-40B4-BE49-F238E27FC236}">
                <a16:creationId xmlns:a16="http://schemas.microsoft.com/office/drawing/2014/main" id="{1A7195EB-03CD-00FE-CA64-496543A8F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8" y="4047646"/>
            <a:ext cx="3280652" cy="272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815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74131-3250-BE80-45CA-8C552A8A2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86F2EE-D878-53FB-12D4-2386F639D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Στοιχεία Δείγματος</a:t>
            </a:r>
          </a:p>
        </p:txBody>
      </p:sp>
      <p:pic>
        <p:nvPicPr>
          <p:cNvPr id="10" name="Εικόνα 9">
            <a:extLst>
              <a:ext uri="{FF2B5EF4-FFF2-40B4-BE49-F238E27FC236}">
                <a16:creationId xmlns:a16="http://schemas.microsoft.com/office/drawing/2014/main" id="{253718C5-D842-4B5E-CF19-C51A07E3A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8302"/>
            <a:ext cx="6177611" cy="5012497"/>
          </a:xfrm>
          <a:prstGeom prst="rect">
            <a:avLst/>
          </a:prstGeom>
        </p:spPr>
      </p:pic>
      <p:pic>
        <p:nvPicPr>
          <p:cNvPr id="4" name="Εικόνα 3">
            <a:extLst>
              <a:ext uri="{FF2B5EF4-FFF2-40B4-BE49-F238E27FC236}">
                <a16:creationId xmlns:a16="http://schemas.microsoft.com/office/drawing/2014/main" id="{66ABB3E5-C0B9-5353-4A4E-0107054DE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3131" y="1450659"/>
            <a:ext cx="5028869" cy="2443892"/>
          </a:xfrm>
          <a:prstGeom prst="rect">
            <a:avLst/>
          </a:prstGeom>
        </p:spPr>
      </p:pic>
      <p:pic>
        <p:nvPicPr>
          <p:cNvPr id="7" name="Εικόνα 6">
            <a:extLst>
              <a:ext uri="{FF2B5EF4-FFF2-40B4-BE49-F238E27FC236}">
                <a16:creationId xmlns:a16="http://schemas.microsoft.com/office/drawing/2014/main" id="{5B0614AD-D861-7EE7-4ABA-F00E613746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7172" y="3894550"/>
            <a:ext cx="5028869" cy="293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767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81206F-EA92-797D-5507-375767622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28B488-CA17-DAF2-6AA6-0A1D23DF1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Ποιες περιοχές είναι ακριβότερες/τ.μ.</a:t>
            </a:r>
          </a:p>
        </p:txBody>
      </p:sp>
      <p:pic>
        <p:nvPicPr>
          <p:cNvPr id="4" name="Content Placeholder 3" descr="Top 15 ακριβότερες περιοχές (τιμή ανά τ.μ.)">
            <a:extLst>
              <a:ext uri="{FF2B5EF4-FFF2-40B4-BE49-F238E27FC236}">
                <a16:creationId xmlns:a16="http://schemas.microsoft.com/office/drawing/2014/main" id="{025B9A90-BC4F-7729-DBD9-AC37F741F7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4167" y="1675227"/>
            <a:ext cx="7323665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420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8D0BB0-67BE-3127-6CD5-ABD7E6C92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16530D-A89C-0EA4-C0A6-AFE7065E8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Περιγραφικά Στατιστικά</a:t>
            </a: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1021BADF-7BE2-126F-4ABC-2218107D6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20" y="1822348"/>
            <a:ext cx="10150956" cy="416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36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F155A-D004-0F13-AF7B-1C407CCF2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5C7C8-B8E8-5EAA-93CC-33938FA07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Περιγραφικά Στατιστικά</a:t>
            </a:r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4B3E4520-9D4D-7A46-D4AA-DB12209F8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054" y="1249491"/>
            <a:ext cx="10287892" cy="435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18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0A56F-B483-551F-B71A-EABF8FD79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46F9-1F5B-EF9E-8115-FBF92173A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Περιγραφικά Στατιστικά</a:t>
            </a:r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D39E9799-FD17-4773-90B7-64355B59D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520" y="1306646"/>
            <a:ext cx="10386960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880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1600E-3048-DD29-248A-99F09BFAC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E9623-1A67-2FC6-7F4A-F90DC03F4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Περιγραφικά Στατιστικά</a:t>
            </a:r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40699821-EAB6-A137-8662-CCFAE316A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68" y="944678"/>
            <a:ext cx="5585944" cy="4663844"/>
          </a:xfrm>
          <a:prstGeom prst="rect">
            <a:avLst/>
          </a:prstGeom>
        </p:spPr>
      </p:pic>
      <p:pic>
        <p:nvPicPr>
          <p:cNvPr id="7" name="Εικόνα 6">
            <a:extLst>
              <a:ext uri="{FF2B5EF4-FFF2-40B4-BE49-F238E27FC236}">
                <a16:creationId xmlns:a16="http://schemas.microsoft.com/office/drawing/2014/main" id="{6B0743D7-EBCF-2F1A-EA81-7E16F431F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305" y="952299"/>
            <a:ext cx="5616427" cy="465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539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E3F15-0D5E-FBC9-9DC1-095F7B107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B71A4-BFE8-776A-06D0-A6389F75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Περιγραφικά Στατιστικά</a:t>
            </a:r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6C94326A-BA14-8190-616E-76E5A1E97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028" y="1078026"/>
            <a:ext cx="5585944" cy="470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286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9CD53-4554-D331-042D-D24B5332D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13A39-3CD9-782A-A218-9C2BEBF14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Περιγραφικά Στατιστικά</a:t>
            </a:r>
          </a:p>
        </p:txBody>
      </p:sp>
    </p:spTree>
    <p:extLst>
      <p:ext uri="{BB962C8B-B14F-4D97-AF65-F5344CB8AC3E}">
        <p14:creationId xmlns:p14="http://schemas.microsoft.com/office/powerpoint/2010/main" val="2706384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83</Words>
  <Application>Microsoft Office PowerPoint</Application>
  <PresentationFormat>Ευρεία οθόνη</PresentationFormat>
  <Paragraphs>19</Paragraphs>
  <Slides>14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Τι καθορίζει την αξία ενός ακινήτου στην Αττική;</vt:lpstr>
      <vt:lpstr>Dataset</vt:lpstr>
      <vt:lpstr>Στοιχεία Δείγματος – Έτος Κατασκευής</vt:lpstr>
      <vt:lpstr>Στοιχεία Δείγματος – Αριθμός Ακινήτων</vt:lpstr>
      <vt:lpstr>Στοιχεία Δείγματος – Μέγεθος ακινήτων</vt:lpstr>
      <vt:lpstr>Στοιχεία Δείγματος</vt:lpstr>
      <vt:lpstr>Στοιχεία Δείγματος</vt:lpstr>
      <vt:lpstr>Ποιες περιοχές είναι ακριβότερες/τ.μ.</vt:lpstr>
      <vt:lpstr>Περιγραφικά Στατιστικά</vt:lpstr>
      <vt:lpstr>Περιγραφικά Στατιστικά</vt:lpstr>
      <vt:lpstr>Περιγραφικά Στατιστικά</vt:lpstr>
      <vt:lpstr>Περιγραφικά Στατιστικά</vt:lpstr>
      <vt:lpstr>Περιγραφικά Στατιστικά</vt:lpstr>
      <vt:lpstr>Περιγραφικά Στατιστικά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Fessas Michail</cp:lastModifiedBy>
  <cp:revision>4</cp:revision>
  <dcterms:created xsi:type="dcterms:W3CDTF">2026-06-20T12:58:29Z</dcterms:created>
  <dcterms:modified xsi:type="dcterms:W3CDTF">2026-06-20T14:14:52Z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AC7C18B26EFE42E69C586E38481A2C30_13</vt:lpwstr>
  </property>
  <property fmtid="{D5CDD505-2E9C-101B-9397-08002B2CF9AE}" pid="3" name="KSOProductBuildVer">
    <vt:lpwstr>1033-12.9.0.21549</vt:lpwstr>
  </property>
</Properties>
</file>